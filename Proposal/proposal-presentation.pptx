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38" d="100"/>
          <a:sy n="138" d="100"/>
        </p:scale>
        <p:origin x="2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72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Vinit Tiwari, 220174440</a:t>
            </a:r>
          </a:p>
          <a:p>
            <a:r>
              <a:t>• CM3070 Final Project</a:t>
            </a:r>
          </a:p>
          <a:p>
            <a:r>
              <a:t>• CM3005 Data Science — Educational Content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Recommendation engine → best next resource for each student</a:t>
            </a:r>
          </a:p>
          <a:p>
            <a:r>
              <a:t>• Two approaches: collaborative filtering + feature-based content filtering</a:t>
            </a:r>
          </a:p>
          <a:p>
            <a:r>
              <a:t>• Key difference: evaluates on LEARNING OUTCOMES, not clicks</a:t>
            </a:r>
          </a:p>
          <a:p>
            <a:r>
              <a:t>• Deliverable: Python API + Streamlit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Drowning in content, systems optimise engagement not learning</a:t>
            </a:r>
          </a:p>
          <a:p>
            <a:r>
              <a:t>• 30-second view = same signal as course completion</a:t>
            </a:r>
          </a:p>
          <a:p>
            <a:r>
              <a:t>• OULAD shows: right resources at right time → better assessment scores</a:t>
            </a:r>
          </a:p>
          <a:p>
            <a:r>
              <a:t>• Opportunity: recommend for outcomes → improve pass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① Thai-Nghe (2010) — EDM Workshop</a:t>
            </a:r>
          </a:p>
          <a:p>
            <a:r>
              <a:t>• Matrix factorisation → predicts grades</a:t>
            </a:r>
          </a:p>
          <a:p>
            <a:r>
              <a:t>• Proves collab filtering works in education</a:t>
            </a:r>
          </a:p>
          <a:p>
            <a:r>
              <a:t>• BUT: only predicts, doesn't recommend. No content features.</a:t>
            </a:r>
          </a:p>
          <a:p/>
          <a:p>
            <a:r>
              <a:t>② Piech (2015) — NeurIPS</a:t>
            </a:r>
          </a:p>
          <a:p>
            <a:r>
              <a:t>• RNN models knowledge evolution</a:t>
            </a:r>
          </a:p>
          <a:p>
            <a:r>
              <a:t>• BUT: prediction ≠ recommendation. Never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③ Corbett &amp; Anderson (1995) — UMUAI, 2000+ citations</a:t>
            </a:r>
          </a:p>
          <a:p>
            <a:r>
              <a:t>• Foundational mastery model, probabilistic</a:t>
            </a:r>
          </a:p>
          <a:p>
            <a:r>
              <a:t>• BUT: fixed rules, can't discover paths from data, no content features.</a:t>
            </a:r>
          </a:p>
          <a:p/>
          <a:p>
            <a:r>
              <a:t>④ Bousbahi &amp; Chorfi (2015) — Procedia</a:t>
            </a:r>
          </a:p>
          <a:p>
            <a:r>
              <a:t>• Content features → matches courses to profiles, solves cold-start</a:t>
            </a:r>
          </a:p>
          <a:p>
            <a:r>
              <a:t>• BUT: ignores collaborative signals, never evaluated on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Pattern: each paper does ONE thing well, misses others</a:t>
            </a:r>
          </a:p>
          <a:p>
            <a:r>
              <a:t>• Thai-Nghe: collab ✓, content ✗, outcomes ✗</a:t>
            </a:r>
          </a:p>
          <a:p>
            <a:r>
              <a:t>• Piech/Corbett: collab ✗, content ✗, outcomes partial</a:t>
            </a:r>
          </a:p>
          <a:p>
            <a:r>
              <a:t>• Bousbahi: collab ✗, content ✓, outcomes ✗</a:t>
            </a:r>
          </a:p>
          <a:p>
            <a:r>
              <a:t>• MY PROJECT: all three combined → novelty is the combination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Data: OULAD — 32K students, 10M interactions, assessment scores, public.</a:t>
            </a:r>
          </a:p>
          <a:p/>
          <a:p>
            <a:r>
              <a:t>Models (simple → complex):</a:t>
            </a:r>
          </a:p>
          <a:p>
            <a:r>
              <a:t>  Random → Popularity → SVD (collab) → Feature-based (content) → Hybrid</a:t>
            </a:r>
          </a:p>
          <a:p/>
          <a:p>
            <a:r>
              <a:t>Evaluation:</a:t>
            </a:r>
          </a:p>
          <a:p>
            <a:r>
              <a:t>  Precision (top-10) • Recall • Ranking quality</a:t>
            </a:r>
          </a:p>
          <a:p>
            <a:r>
              <a:t>  + Cross-validation + Ablation study</a:t>
            </a:r>
          </a:p>
          <a:p/>
          <a:p>
            <a:r>
              <a:t>Deliverable: FastAPI + Streamlit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Data Science — Educational Content Recommendation</a:t>
            </a:r>
          </a:p>
          <a:p>
            <a:r>
              <a:t>• Problem: overwhelmed learners, systems optimise clicks not learning</a:t>
            </a:r>
          </a:p>
          <a:p>
            <a:r>
              <a:t>• Solution: hybrid engine (collab + content), evaluated on outcomes</a:t>
            </a:r>
          </a:p>
          <a:p>
            <a:r>
              <a:t>• Output: working API + live demo dashboard</a:t>
            </a:r>
          </a:p>
          <a:p>
            <a:r>
              <a:t>•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19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43891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CM3005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Data-Driven Personalised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Educational Content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Hybrid ML Recommendation Engine Evaluated on Learning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CM3070 Computer Science Final Project</a:t>
            </a:r>
          </a:p>
          <a:p>
            <a:pPr>
              <a:spcBef>
                <a:spcPts val="800"/>
              </a:spcBef>
              <a:defRPr sz="1300" b="1">
                <a:solidFill>
                  <a:srgbClr val="2DD4BF"/>
                </a:solidFill>
              </a:defRPr>
            </a:pPr>
            <a:r>
              <a:t>VINIT TIWARI  •  220174440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PROJECT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What am I building?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 recommendation engine that suggests the optimal next learning resource for each individual learner — evaluated on learning outcomes, not clicks.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6974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Collaborative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SVD matrix factorisation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Captures: what worked for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similar learners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9456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2194560"/>
            <a:ext cx="269748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79" y="233172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Content-Based (Features)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743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Resource feature vectors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Captures: what the resource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is actually about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9456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26974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33172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Outcome-Aware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43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Assessment score signals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Captures: did learners who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used this actually improve?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480560"/>
            <a:ext cx="8412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Delivered as:  </a:t>
            </a:r>
            <a:r>
              <a:rPr sz="1300" b="1">
                <a:solidFill>
                  <a:srgbClr val="38BDF8"/>
                </a:solidFill>
              </a:rPr>
              <a:t>FastAPI endpoint  +  Streamlit demo dashboard  +  Full evaluation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does this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8412480" cy="6400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The problem:  </a:t>
            </a:r>
            <a:r>
              <a:rPr sz="1300">
                <a:solidFill>
                  <a:srgbClr val="0F172A"/>
                </a:solidFill>
              </a:rPr>
              <a:t>Current systems optimise engagement (clicks) — NOT whether learners actually learn.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40279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Paradox of choice:  </a:t>
            </a:r>
            <a:r>
              <a:rPr sz="1300">
                <a:solidFill>
                  <a:srgbClr val="475569"/>
                </a:solidFill>
              </a:rPr>
              <a:t>Millions of resources → decision paralysis, suboptimal learning paths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39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Engagement ≠ Learning:  </a:t>
            </a:r>
            <a:r>
              <a:rPr sz="1300">
                <a:solidFill>
                  <a:srgbClr val="475569"/>
                </a:solidFill>
              </a:rPr>
              <a:t>Existing systems treat a 30-second view identically to course completion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One-size-fits-all:  </a:t>
            </a:r>
            <a:r>
              <a:rPr sz="1300">
                <a:solidFill>
                  <a:srgbClr val="475569"/>
                </a:solidFill>
              </a:rPr>
              <a:t>Fixed curricula ignore individual knowledge gaps and learning pace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709159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Evidence from data:  </a:t>
            </a:r>
            <a:r>
              <a:rPr sz="1300">
                <a:solidFill>
                  <a:srgbClr val="475569"/>
                </a:solidFill>
              </a:rPr>
              <a:t>OULAD dataset: students accessing right resources at right time score significantly higher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577840"/>
            <a:ext cx="8412480" cy="5486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</a:rPr>
              <a:t>Opportunity:  </a:t>
            </a:r>
            <a:r>
              <a:rPr sz="1300">
                <a:solidFill>
                  <a:srgbClr val="0F172A"/>
                </a:solidFill>
              </a:rPr>
              <a:t>Recommend for learning outcomes → measurably improve pass rates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RELATED WORK — Identifying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Evaluating existing research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4206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062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8BDF8"/>
                </a:solidFill>
              </a:rPr>
              <a:t>①  </a:t>
            </a:r>
            <a:r>
              <a:rPr sz="1300" b="1">
                <a:solidFill>
                  <a:srgbClr val="0F172A"/>
                </a:solidFill>
              </a:rPr>
              <a:t>Thai-Nghe et al. (2010)</a:t>
            </a:r>
          </a:p>
          <a:p>
            <a:pPr>
              <a:defRPr sz="1000" i="1">
                <a:solidFill>
                  <a:srgbClr val="475569"/>
                </a:solidFill>
              </a:defRPr>
            </a:pPr>
            <a:r>
              <a:t>Collaborative filtering for student performance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Matrix factorisation applied to education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Predicts student grades from interaction data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Published in EDM Workshop (peer-reviewed)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Predicts grades, does NOT recommend content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No feature analysis analysis of resource features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Single-technique (collaborative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97280"/>
            <a:ext cx="4206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2062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280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B5CF6"/>
                </a:solidFill>
              </a:rPr>
              <a:t>②  </a:t>
            </a:r>
            <a:r>
              <a:rPr sz="1300" b="1">
                <a:solidFill>
                  <a:srgbClr val="0F172A"/>
                </a:solidFill>
              </a:rPr>
              <a:t>Piech et al. (2015)</a:t>
            </a:r>
          </a:p>
          <a:p>
            <a:pPr>
              <a:defRPr sz="1000" i="1">
                <a:solidFill>
                  <a:srgbClr val="475569"/>
                </a:solidFill>
              </a:defRPr>
            </a:pPr>
            <a:r>
              <a:t>Deep Knowledge Tracing (NeurIPS)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RNN models student knowledge evolution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Predicts future assessment performance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Top-tier venue (NeurIPS, peer-reviewed)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Prediction ≠ recommendation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Never deployed as user-facing system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Requires 1000s of labelled Q&amp;A pairs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023360"/>
            <a:ext cx="859536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Gap:  </a:t>
            </a:r>
            <a:r>
              <a:rPr sz="1100">
                <a:solidFill>
                  <a:srgbClr val="475569"/>
                </a:solidFill>
              </a:rPr>
              <a:t>Thai-Nghe applies collaborative filtering but only predicts grades — no content recommendation. Piech models knowledge but doesn’t recommend what to study next. Neither uses content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2120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Thai-Nghe et al. — EDM Workshop, peer-reviewed  |  Piech et al. — NeurIPS, top-tier peer-reviewed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RELATED WORK — Identifying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Evaluating existing research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4206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062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DD4BF"/>
                </a:solidFill>
              </a:rPr>
              <a:t>③  </a:t>
            </a:r>
            <a:r>
              <a:rPr sz="1300" b="1">
                <a:solidFill>
                  <a:srgbClr val="0F172A"/>
                </a:solidFill>
              </a:rPr>
              <a:t>Corbett &amp; Anderson (1995)</a:t>
            </a:r>
          </a:p>
          <a:p>
            <a:pPr>
              <a:defRPr sz="1000" i="1">
                <a:solidFill>
                  <a:srgbClr val="475569"/>
                </a:solidFill>
              </a:defRPr>
            </a:pPr>
            <a:r>
              <a:t>Bayesian Knowledge Tracing (UMUAI Journal)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Foundational mastery-based model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Models per-skill knowledge acquisition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Highly cited (2000+ citations)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Rule-based progression, not ML-driven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Cannot discover new pathways from data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No content features or personalisation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97280"/>
            <a:ext cx="4206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2062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280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9E0B"/>
                </a:solidFill>
              </a:rPr>
              <a:t>④  </a:t>
            </a:r>
            <a:r>
              <a:rPr sz="1300" b="1">
                <a:solidFill>
                  <a:srgbClr val="0F172A"/>
                </a:solidFill>
              </a:rPr>
              <a:t>Bousbahi &amp; Chorfi (2015)</a:t>
            </a:r>
          </a:p>
          <a:p>
            <a:pPr>
              <a:defRPr sz="1000" i="1">
                <a:solidFill>
                  <a:srgbClr val="475569"/>
                </a:solidFill>
              </a:defRPr>
            </a:pPr>
            <a:r>
              <a:t>Content-based recommender for MOOCs (Procedia)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feature analysis matches content to learner profiles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Solves cold-start problem</a:t>
            </a:r>
          </a:p>
          <a:p>
            <a:pPr>
              <a:spcBef>
                <a:spcPts val="200"/>
              </a:spcBef>
              <a:defRPr sz="1000">
                <a:solidFill>
                  <a:srgbClr val="22C55E"/>
                </a:solidFill>
              </a:defRPr>
            </a:pPr>
            <a:r>
              <a:t>  ✓  Explainable recommendations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Ignores collaborative signals entirely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Never evaluated on learning outcomes</a:t>
            </a:r>
          </a:p>
          <a:p>
            <a:pPr>
              <a:spcBef>
                <a:spcPts val="200"/>
              </a:spcBef>
              <a:defRPr sz="1000">
                <a:solidFill>
                  <a:srgbClr val="EF4444"/>
                </a:solidFill>
              </a:defRPr>
            </a:pPr>
            <a:r>
              <a:t>  ✗  Offline evaluation only (no deployment)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023360"/>
            <a:ext cx="859536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Gap:  </a:t>
            </a:r>
            <a:r>
              <a:rPr sz="1100">
                <a:solidFill>
                  <a:srgbClr val="475569"/>
                </a:solidFill>
              </a:rPr>
              <a:t>Corbett’s BKT models mastery but uses fixed rules, not ML. Bousbahi uses feature analysis for content matching but ignores collaborative signals. Neither evaluates on learning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2120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Corbett &amp; Anderson — UMUAI Journal, peer-reviewed  |  Bousbahi &amp; Chorfi — Procedia, peer-reviewed conference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MY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my project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</a:defRPr>
            </a:pPr>
            <a: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155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Collaborative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115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Content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15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Outcome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① Thai-Nghe et al. (2010)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54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② Piech et al. (2015)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65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</a:defRPr>
            </a:pPr>
            <a: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③ Corbett &amp; Anderson (1995)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774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377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77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</a:defRPr>
            </a:pPr>
            <a: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788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④ Bousbahi &amp; Chorfi (2015)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7889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88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88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82112"/>
            <a:ext cx="8595360" cy="38404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2004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⑤ MY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2004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840480"/>
            <a:ext cx="85953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02336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My contribution fills the gap: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A hybrid engine combining collaborative filtering + content-based feature analysis, evaluated on assessment outcome signals.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defRPr sz="1200" i="1">
                <a:solidFill>
                  <a:srgbClr val="94A3B8"/>
                </a:solidFill>
              </a:defRPr>
            </a:pPr>
            <a:r>
              <a:t>Each technique is proven individually — the novelty is their combination with outcome-aware evaluation, which no existing paper achieves.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Technical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554480" cy="7772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OULAD</a:t>
            </a:r>
            <a:br/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384" y="13258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097280"/>
            <a:ext cx="1554480" cy="7772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Preprocess</a:t>
            </a:r>
            <a:br/>
            <a:r>
              <a:t>&amp;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464" y="13258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097280"/>
            <a:ext cx="1554480" cy="777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Train</a:t>
            </a:r>
            <a:br/>
            <a:r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308" y="13258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59" y="1097280"/>
            <a:ext cx="1554480" cy="7772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Evaluate</a:t>
            </a:r>
            <a:br/>
            <a:r>
              <a:t>&amp;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3388" y="132588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097280"/>
            <a:ext cx="1554480" cy="7772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API +</a:t>
            </a:r>
            <a:br/>
            <a: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286000"/>
            <a:ext cx="100584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86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OULAD: 32K students • 10M+ interactions • Assessment scores • Pass/fail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834640"/>
            <a:ext cx="100584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</a:defRPr>
            </a:pPr>
            <a: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34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Random → Popularity → SVD (collaborative) → Feature-based (content) → Hybrid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383280"/>
            <a:ext cx="100584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</a:defRPr>
            </a:pPr>
            <a: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83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Precision (top-10)  •  Recall (top-10)  •  Ranking quality (NDCG)  •  Prediction error (RMSE)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31920"/>
            <a:ext cx="100584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</a:defRPr>
            </a:pPr>
            <a:r>
              <a:t>Rigour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31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5-fold cross-validation  •  Ablation study  •  Statistical significance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480560"/>
            <a:ext cx="100584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80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FastAPI endpoint  •  Streamlit dashboard  •  Reproducible 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20640"/>
            <a:ext cx="8595360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</a:rPr>
              <a:t>Expected result:  </a:t>
            </a:r>
            <a:r>
              <a:rPr sz="1200">
                <a:solidFill>
                  <a:srgbClr val="0F172A"/>
                </a:solidFill>
              </a:rPr>
              <a:t>Each model outperforms the previous — clear measurable improvement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-731520" y="4114800"/>
            <a:ext cx="2286000" cy="2286000"/>
          </a:xfrm>
          <a:prstGeom prst="ellipse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32320" y="914400"/>
            <a:ext cx="2743200" cy="2743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CM3005 Data Science — Educational Content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28016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Learners overwhelmed; systems optimise clicks, not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280160" cy="3200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346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Hybrid ML engine (collaborative + content) evaluated on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2801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661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OULAD — 32K students, public, includes learning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976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Precision, Recall, Ranking quality, Error rate + cross-validation + ablation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0292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FastAPI + Streamlit — working recommendation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8BDF8"/>
                </a:solidFill>
              </a:defRPr>
            </a:pPr>
            <a:r>
              <a:t>Thank you.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CM3005 Data Science — Data-Driven Personalised Educational Content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1780</Words>
  <Application>Microsoft Macintosh PowerPoint</Application>
  <PresentationFormat>On-screen Show (4:3)</PresentationFormat>
  <Paragraphs>221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TIWARI, VIVEK</cp:lastModifiedBy>
  <cp:revision>3</cp:revision>
  <dcterms:created xsi:type="dcterms:W3CDTF">2013-01-27T09:14:16Z</dcterms:created>
  <dcterms:modified xsi:type="dcterms:W3CDTF">2026-05-18T08:30:42Z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2026-05-18T07:37:27Z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8009ea8a-4ba8-4c99-8cc3-6c2d276ec169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